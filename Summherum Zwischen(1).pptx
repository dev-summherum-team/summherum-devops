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83" r:id="rId1"/>
  </p:sldMasterIdLst>
  <p:notesMasterIdLst>
    <p:notesMasterId r:id="rId8"/>
  </p:notesMasterIdLst>
  <p:sldIdLst>
    <p:sldId id="256" r:id="rId2"/>
    <p:sldId id="259" r:id="rId3"/>
    <p:sldId id="257" r:id="rId4"/>
    <p:sldId id="258" r:id="rId5"/>
    <p:sldId id="260" r:id="rId6"/>
    <p:sldId id="261" r:id="rId7"/>
  </p:sldIdLst>
  <p:sldSz cx="14630400" cy="8229600"/>
  <p:notesSz cx="8229600" cy="14630400"/>
  <p:embeddedFontLst>
    <p:embeddedFont>
      <p:font typeface="Consolas" panose="020B0609020204030204" pitchFamily="49" charset="0"/>
      <p:regular r:id="rId9"/>
      <p:bold r:id="rId10"/>
      <p:italic r:id="rId11"/>
      <p:boldItalic r:id="rId12"/>
    </p:embeddedFont>
    <p:embeddedFont>
      <p:font typeface="Trebuchet MS" panose="020B0603020202020204" pitchFamily="34" charset="0"/>
      <p:regular r:id="rId13"/>
      <p:bold r:id="rId14"/>
      <p:italic r:id="rId15"/>
      <p:boldItalic r:id="rId16"/>
    </p:embeddedFont>
    <p:embeddedFont>
      <p:font typeface="Wingdings 3" panose="05040102010807070707" pitchFamily="18" charset="2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AB8AD1-0547-98A5-C9A6-823173A981C5}" v="1338" dt="2026-05-21T14:47:23.3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5172C6-FE49-4F9E-805F-1231086F4529}" type="datetimeFigureOut">
              <a:t>5/21/2026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73050" y="1828800"/>
            <a:ext cx="8775700" cy="493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7040563"/>
            <a:ext cx="6584950" cy="57610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3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DB3D69-51A7-4168-B733-331221157D5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51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08481" y="2885441"/>
            <a:ext cx="9320323" cy="1975562"/>
          </a:xfrm>
        </p:spPr>
        <p:txBody>
          <a:bodyPr anchor="b">
            <a:noAutofit/>
          </a:bodyPr>
          <a:lstStyle>
            <a:lvl1pPr algn="r">
              <a:defRPr sz="9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8481" y="4861000"/>
            <a:ext cx="9320323" cy="131627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625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4384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32512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40640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8768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56896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65024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2494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62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3241041"/>
            <a:ext cx="10316002" cy="2191897"/>
          </a:xfrm>
        </p:spPr>
        <p:txBody>
          <a:bodyPr anchor="b"/>
          <a:lstStyle>
            <a:lvl1pPr algn="l">
              <a:defRPr sz="7111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032480"/>
          </a:xfrm>
        </p:spPr>
        <p:txBody>
          <a:bodyPr anchor="t"/>
          <a:lstStyle>
            <a:lvl1pPr marL="0" indent="0" algn="l">
              <a:buNone/>
              <a:defRPr sz="3556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971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1" y="2592707"/>
            <a:ext cx="5020842" cy="465692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07964" y="2592707"/>
            <a:ext cx="5020841" cy="46569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533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894" y="2593180"/>
            <a:ext cx="5022748" cy="691514"/>
          </a:xfrm>
        </p:spPr>
        <p:txBody>
          <a:bodyPr anchor="b">
            <a:noAutofit/>
          </a:bodyPr>
          <a:lstStyle>
            <a:lvl1pPr marL="0" indent="0">
              <a:buNone/>
              <a:defRPr sz="4267" b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0894" y="3284695"/>
            <a:ext cx="5022748" cy="396494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06059" y="2593180"/>
            <a:ext cx="5022742" cy="691514"/>
          </a:xfrm>
        </p:spPr>
        <p:txBody>
          <a:bodyPr anchor="b">
            <a:noAutofit/>
          </a:bodyPr>
          <a:lstStyle>
            <a:lvl1pPr marL="0" indent="0">
              <a:buNone/>
              <a:defRPr sz="4267" b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06062" y="3284695"/>
            <a:ext cx="5022740" cy="396494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888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824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8668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1" y="1798325"/>
            <a:ext cx="4625434" cy="1534159"/>
          </a:xfrm>
        </p:spPr>
        <p:txBody>
          <a:bodyPr anchor="b">
            <a:normAutofit/>
          </a:bodyPr>
          <a:lstStyle>
            <a:lvl1pPr>
              <a:defRPr sz="3556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2554" y="617910"/>
            <a:ext cx="5416249" cy="66317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1" y="3332483"/>
            <a:ext cx="4625434" cy="3101339"/>
          </a:xfrm>
        </p:spPr>
        <p:txBody>
          <a:bodyPr>
            <a:normAutofit/>
          </a:bodyPr>
          <a:lstStyle>
            <a:lvl1pPr marL="0" indent="0">
              <a:buNone/>
              <a:defRPr sz="2489"/>
            </a:lvl1pPr>
            <a:lvl2pPr marL="812567" indent="0">
              <a:buNone/>
              <a:defRPr sz="2489"/>
            </a:lvl2pPr>
            <a:lvl3pPr marL="1625133" indent="0">
              <a:buNone/>
              <a:defRPr sz="2133"/>
            </a:lvl3pPr>
            <a:lvl4pPr marL="2437700" indent="0">
              <a:buNone/>
              <a:defRPr sz="1778"/>
            </a:lvl4pPr>
            <a:lvl5pPr marL="3250265" indent="0">
              <a:buNone/>
              <a:defRPr sz="1778"/>
            </a:lvl5pPr>
            <a:lvl6pPr marL="4062831" indent="0">
              <a:buNone/>
              <a:defRPr sz="1778"/>
            </a:lvl6pPr>
            <a:lvl7pPr marL="4875398" indent="0">
              <a:buNone/>
              <a:defRPr sz="1778"/>
            </a:lvl7pPr>
            <a:lvl8pPr marL="5687964" indent="0">
              <a:buNone/>
              <a:defRPr sz="1778"/>
            </a:lvl8pPr>
            <a:lvl9pPr marL="650053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385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5760720"/>
            <a:ext cx="10316000" cy="680086"/>
          </a:xfrm>
        </p:spPr>
        <p:txBody>
          <a:bodyPr anchor="b">
            <a:normAutofit/>
          </a:bodyPr>
          <a:lstStyle>
            <a:lvl1pPr algn="l">
              <a:defRPr sz="4267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801" y="731520"/>
            <a:ext cx="10316002" cy="4614862"/>
          </a:xfrm>
        </p:spPr>
        <p:txBody>
          <a:bodyPr anchor="t">
            <a:normAutofit/>
          </a:bodyPr>
          <a:lstStyle>
            <a:lvl1pPr marL="0" indent="0" algn="ctr">
              <a:buNone/>
              <a:defRPr sz="2844"/>
            </a:lvl1pPr>
            <a:lvl2pPr marL="812810" indent="0">
              <a:buNone/>
              <a:defRPr sz="2844"/>
            </a:lvl2pPr>
            <a:lvl3pPr marL="1625620" indent="0">
              <a:buNone/>
              <a:defRPr sz="2844"/>
            </a:lvl3pPr>
            <a:lvl4pPr marL="2438430" indent="0">
              <a:buNone/>
              <a:defRPr sz="2844"/>
            </a:lvl4pPr>
            <a:lvl5pPr marL="3251241" indent="0">
              <a:buNone/>
              <a:defRPr sz="2844"/>
            </a:lvl5pPr>
            <a:lvl6pPr marL="4064051" indent="0">
              <a:buNone/>
              <a:defRPr sz="2844"/>
            </a:lvl6pPr>
            <a:lvl7pPr marL="4876861" indent="0">
              <a:buNone/>
              <a:defRPr sz="2844"/>
            </a:lvl7pPr>
            <a:lvl8pPr marL="5689671" indent="0">
              <a:buNone/>
              <a:defRPr sz="2844"/>
            </a:lvl8pPr>
            <a:lvl9pPr marL="6502481" indent="0">
              <a:buNone/>
              <a:defRPr sz="2844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2802" y="6440806"/>
            <a:ext cx="10316000" cy="808829"/>
          </a:xfrm>
        </p:spPr>
        <p:txBody>
          <a:bodyPr>
            <a:normAutofit/>
          </a:bodyPr>
          <a:lstStyle>
            <a:lvl1pPr marL="0" indent="0">
              <a:buNone/>
              <a:defRPr sz="2133"/>
            </a:lvl1pPr>
            <a:lvl2pPr marL="812810" indent="0">
              <a:buNone/>
              <a:defRPr sz="2133"/>
            </a:lvl2pPr>
            <a:lvl3pPr marL="1625620" indent="0">
              <a:buNone/>
              <a:defRPr sz="1778"/>
            </a:lvl3pPr>
            <a:lvl4pPr marL="2438430" indent="0">
              <a:buNone/>
              <a:defRPr sz="1600"/>
            </a:lvl4pPr>
            <a:lvl5pPr marL="3251241" indent="0">
              <a:buNone/>
              <a:defRPr sz="1600"/>
            </a:lvl5pPr>
            <a:lvl6pPr marL="4064051" indent="0">
              <a:buNone/>
              <a:defRPr sz="1600"/>
            </a:lvl6pPr>
            <a:lvl7pPr marL="4876861" indent="0">
              <a:buNone/>
              <a:defRPr sz="1600"/>
            </a:lvl7pPr>
            <a:lvl8pPr marL="5689671" indent="0">
              <a:buNone/>
              <a:defRPr sz="1600"/>
            </a:lvl8pPr>
            <a:lvl9pPr marL="6502481" indent="0">
              <a:buNone/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8102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731520"/>
            <a:ext cx="10316002" cy="4084320"/>
          </a:xfrm>
        </p:spPr>
        <p:txBody>
          <a:bodyPr anchor="ctr">
            <a:normAutofit/>
          </a:bodyPr>
          <a:lstStyle>
            <a:lvl1pPr algn="l">
              <a:defRPr sz="7822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453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7822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39367" y="4358640"/>
            <a:ext cx="8669429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2844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364480"/>
            <a:ext cx="10316002" cy="1885154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/>
          <a:p>
            <a:pPr lvl="0"/>
            <a:r>
              <a:rPr lang="en-US" sz="1422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/>
          <a:p>
            <a:pPr lvl="0"/>
            <a:r>
              <a:rPr lang="en-US" sz="1422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856721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2" y="2318386"/>
            <a:ext cx="10316002" cy="3114552"/>
          </a:xfrm>
        </p:spPr>
        <p:txBody>
          <a:bodyPr anchor="b">
            <a:normAutofit/>
          </a:bodyPr>
          <a:lstStyle>
            <a:lvl1pPr algn="l">
              <a:defRPr sz="7822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05749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7601" y="731520"/>
            <a:ext cx="9712961" cy="3627120"/>
          </a:xfrm>
        </p:spPr>
        <p:txBody>
          <a:bodyPr anchor="ctr">
            <a:normAutofit/>
          </a:bodyPr>
          <a:lstStyle>
            <a:lvl1pPr algn="l">
              <a:defRPr sz="7822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267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650244" y="948454"/>
            <a:ext cx="731520" cy="701731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/>
          <a:p>
            <a:pPr lvl="0"/>
            <a:r>
              <a:rPr lang="en-US" sz="1422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71613" y="3463867"/>
            <a:ext cx="731520" cy="701731"/>
          </a:xfrm>
          <a:prstGeom prst="rect">
            <a:avLst/>
          </a:prstGeom>
        </p:spPr>
        <p:txBody>
          <a:bodyPr vert="horz" lIns="162560" tIns="81280" rIns="162560" bIns="81280" rtlCol="0" anchor="ctr">
            <a:noAutofit/>
          </a:bodyPr>
          <a:lstStyle/>
          <a:p>
            <a:pPr lvl="0"/>
            <a:r>
              <a:rPr lang="en-US" sz="14222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767116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59" y="731520"/>
            <a:ext cx="10305844" cy="3627120"/>
          </a:xfrm>
        </p:spPr>
        <p:txBody>
          <a:bodyPr anchor="ctr">
            <a:normAutofit/>
          </a:bodyPr>
          <a:lstStyle>
            <a:lvl1pPr algn="l">
              <a:defRPr sz="7822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12799" y="4815840"/>
            <a:ext cx="10316003" cy="61709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4267">
                <a:solidFill>
                  <a:schemeClr val="accent1"/>
                </a:solidFill>
              </a:defRPr>
            </a:lvl1pPr>
            <a:lvl2pPr marL="812810" indent="0">
              <a:buFontTx/>
              <a:buNone/>
              <a:defRPr/>
            </a:lvl2pPr>
            <a:lvl3pPr marL="1625620" indent="0">
              <a:buFontTx/>
              <a:buNone/>
              <a:defRPr/>
            </a:lvl3pPr>
            <a:lvl4pPr marL="2438430" indent="0">
              <a:buFontTx/>
              <a:buNone/>
              <a:defRPr/>
            </a:lvl4pPr>
            <a:lvl5pPr marL="3251241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2" y="5432938"/>
            <a:ext cx="10316002" cy="1816697"/>
          </a:xfrm>
        </p:spPr>
        <p:txBody>
          <a:bodyPr anchor="t">
            <a:normAutofit/>
          </a:bodyPr>
          <a:lstStyle>
            <a:lvl1pPr marL="0" indent="0" algn="l">
              <a:buNone/>
              <a:defRPr sz="3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81281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48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88614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9351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61208" y="731520"/>
            <a:ext cx="1565692" cy="6301741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2" y="731520"/>
            <a:ext cx="8472180" cy="6301740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6995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8448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665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791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-10160"/>
            <a:ext cx="14630400" cy="8239760"/>
            <a:chOff x="0" y="-8467"/>
            <a:chExt cx="12192000" cy="6866467"/>
          </a:xfrm>
        </p:grpSpPr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50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1" y="731520"/>
            <a:ext cx="10316002" cy="15849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801" y="2592707"/>
            <a:ext cx="10316002" cy="46569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46160" y="7249635"/>
            <a:ext cx="109432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12801" y="7249635"/>
            <a:ext cx="7557134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08796" y="7249635"/>
            <a:ext cx="820007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817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4" r:id="rId1"/>
    <p:sldLayoutId id="2147483785" r:id="rId2"/>
    <p:sldLayoutId id="2147483786" r:id="rId3"/>
    <p:sldLayoutId id="2147483787" r:id="rId4"/>
    <p:sldLayoutId id="2147483788" r:id="rId5"/>
    <p:sldLayoutId id="2147483789" r:id="rId6"/>
    <p:sldLayoutId id="2147483790" r:id="rId7"/>
    <p:sldLayoutId id="2147483791" r:id="rId8"/>
    <p:sldLayoutId id="2147483792" r:id="rId9"/>
    <p:sldLayoutId id="2147483793" r:id="rId10"/>
    <p:sldLayoutId id="2147483794" r:id="rId11"/>
    <p:sldLayoutId id="2147483795" r:id="rId12"/>
    <p:sldLayoutId id="2147483796" r:id="rId13"/>
    <p:sldLayoutId id="2147483797" r:id="rId14"/>
    <p:sldLayoutId id="2147483798" r:id="rId15"/>
    <p:sldLayoutId id="2147483799" r:id="rId16"/>
    <p:sldLayoutId id="2147483800" r:id="rId17"/>
    <p:sldLayoutId id="2147483801" r:id="rId18"/>
    <p:sldLayoutId id="2147483802" r:id="rId19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ECCDAF-9335-9B77-BCF5-EB0C0F3CD8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50" r="613" b="13513"/>
          <a:stretch>
            <a:fillRect/>
          </a:stretch>
        </p:blipFill>
        <p:spPr>
          <a:xfrm>
            <a:off x="5718184" y="-1"/>
            <a:ext cx="8912216" cy="7703821"/>
          </a:xfrm>
          <a:custGeom>
            <a:avLst/>
            <a:gdLst/>
            <a:ahLst/>
            <a:cxnLst/>
            <a:rect l="l" t="t" r="r" b="b"/>
            <a:pathLst>
              <a:path w="7922146" h="6858001">
                <a:moveTo>
                  <a:pt x="379987" y="0"/>
                </a:moveTo>
                <a:lnTo>
                  <a:pt x="5304971" y="0"/>
                </a:lnTo>
                <a:lnTo>
                  <a:pt x="7065281" y="0"/>
                </a:lnTo>
                <a:lnTo>
                  <a:pt x="7397540" y="0"/>
                </a:lnTo>
                <a:lnTo>
                  <a:pt x="7397540" y="1"/>
                </a:lnTo>
                <a:lnTo>
                  <a:pt x="7922146" y="1"/>
                </a:lnTo>
                <a:lnTo>
                  <a:pt x="7922146" y="6858001"/>
                </a:lnTo>
                <a:lnTo>
                  <a:pt x="7065281" y="6858001"/>
                </a:lnTo>
                <a:lnTo>
                  <a:pt x="7065281" y="6858000"/>
                </a:lnTo>
                <a:lnTo>
                  <a:pt x="5932989" y="6858000"/>
                </a:lnTo>
                <a:lnTo>
                  <a:pt x="5932989" y="6858001"/>
                </a:lnTo>
                <a:lnTo>
                  <a:pt x="27809" y="6858001"/>
                </a:lnTo>
                <a:lnTo>
                  <a:pt x="1803228" y="4521201"/>
                </a:lnTo>
                <a:close/>
                <a:moveTo>
                  <a:pt x="0" y="0"/>
                </a:moveTo>
                <a:lnTo>
                  <a:pt x="379987" y="0"/>
                </a:lnTo>
                <a:lnTo>
                  <a:pt x="0" y="407"/>
                </a:lnTo>
                <a:close/>
              </a:path>
            </a:pathLst>
          </a:custGeom>
        </p:spPr>
      </p:pic>
      <p:sp>
        <p:nvSpPr>
          <p:cNvPr id="3" name="Text 0"/>
          <p:cNvSpPr/>
          <p:nvPr/>
        </p:nvSpPr>
        <p:spPr>
          <a:xfrm>
            <a:off x="802640" y="2014399"/>
            <a:ext cx="4905828" cy="28429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r" defTabSz="457200">
              <a:spcBef>
                <a:spcPct val="0"/>
              </a:spcBef>
              <a:spcAft>
                <a:spcPts val="600"/>
              </a:spcAft>
            </a:pPr>
            <a:r>
              <a:rPr lang="en-US" sz="5400" dirty="0" err="1">
                <a:latin typeface="+mj-lt"/>
                <a:ea typeface="+mj-ea"/>
                <a:cs typeface="+mj-cs"/>
              </a:rPr>
              <a:t>Digitales</a:t>
            </a:r>
            <a:r>
              <a:rPr lang="en-US" sz="5400" dirty="0">
                <a:latin typeface="+mj-lt"/>
                <a:ea typeface="+mj-ea"/>
                <a:cs typeface="+mj-cs"/>
              </a:rPr>
              <a:t> </a:t>
            </a:r>
            <a:r>
              <a:rPr lang="en-US" sz="5400" dirty="0" err="1">
                <a:latin typeface="+mj-lt"/>
                <a:ea typeface="+mj-ea"/>
                <a:cs typeface="+mj-cs"/>
              </a:rPr>
              <a:t>Reisetagebuch</a:t>
            </a:r>
            <a:br>
              <a:rPr lang="en-US" sz="5400" dirty="0">
                <a:latin typeface="+mj-lt"/>
                <a:ea typeface="+mj-ea"/>
                <a:cs typeface="+mj-cs"/>
              </a:rPr>
            </a:br>
            <a:r>
              <a:rPr lang="en-US" sz="5400" dirty="0">
                <a:latin typeface="+mj-lt"/>
                <a:ea typeface="+mj-ea"/>
                <a:cs typeface="+mj-cs"/>
              </a:rPr>
              <a:t>"</a:t>
            </a:r>
            <a:r>
              <a:rPr lang="en-US" sz="5400" dirty="0" err="1">
                <a:latin typeface="+mj-lt"/>
                <a:ea typeface="+mj-ea"/>
                <a:cs typeface="+mj-cs"/>
              </a:rPr>
              <a:t>Summherum</a:t>
            </a:r>
            <a:r>
              <a:rPr lang="en-US" sz="5400" dirty="0">
                <a:latin typeface="+mj-lt"/>
                <a:ea typeface="+mj-ea"/>
                <a:cs typeface="+mj-cs"/>
              </a:rPr>
              <a:t>"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9C0F9C-39D6-4CA0-2B77-9B420F2E823A}"/>
              </a:ext>
            </a:extLst>
          </p:cNvPr>
          <p:cNvSpPr txBox="1"/>
          <p:nvPr/>
        </p:nvSpPr>
        <p:spPr>
          <a:xfrm>
            <a:off x="12783746" y="7708248"/>
            <a:ext cx="1846206" cy="45818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3B6B76B-ADB3-3C29-0866-BFEA9DCF4D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18" y="578323"/>
            <a:ext cx="14076920" cy="64427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B512B7-DA8F-DB29-FC3F-16832E80C630}"/>
              </a:ext>
            </a:extLst>
          </p:cNvPr>
          <p:cNvSpPr txBox="1"/>
          <p:nvPr/>
        </p:nvSpPr>
        <p:spPr>
          <a:xfrm>
            <a:off x="12653511" y="7694358"/>
            <a:ext cx="1981376" cy="54078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2685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CA05F6AB-B204-3455-E48D-14B094AC61BB}"/>
              </a:ext>
            </a:extLst>
          </p:cNvPr>
          <p:cNvSpPr txBox="1"/>
          <p:nvPr/>
        </p:nvSpPr>
        <p:spPr>
          <a:xfrm>
            <a:off x="12653511" y="7694358"/>
            <a:ext cx="1981376" cy="54078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AEDE4-6679-877A-9C2C-166B5F5382E4}"/>
              </a:ext>
            </a:extLst>
          </p:cNvPr>
          <p:cNvSpPr txBox="1"/>
          <p:nvPr/>
        </p:nvSpPr>
        <p:spPr>
          <a:xfrm>
            <a:off x="831668" y="888274"/>
            <a:ext cx="1348086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/>
              <a:t>Funktionsweisen</a:t>
            </a:r>
            <a:endParaRPr lang="en-US" sz="2400" b="1"/>
          </a:p>
          <a:p>
            <a:endParaRPr lang="en-US" dirty="0"/>
          </a:p>
          <a:p>
            <a:pPr marL="285750" indent="-285750">
              <a:buFont typeface="Calibri,Sans-Serif"/>
              <a:buChar char="-"/>
            </a:pPr>
            <a:endParaRPr lang="en-US" dirty="0"/>
          </a:p>
        </p:txBody>
      </p:sp>
      <p:graphicFrame>
        <p:nvGraphicFramePr>
          <p:cNvPr id="34" name="Table 33">
            <a:extLst>
              <a:ext uri="{FF2B5EF4-FFF2-40B4-BE49-F238E27FC236}">
                <a16:creationId xmlns:a16="http://schemas.microsoft.com/office/drawing/2014/main" id="{B6E0F55D-2FA4-0408-9C6F-FC2BFCE97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382441"/>
              </p:ext>
            </p:extLst>
          </p:nvPr>
        </p:nvGraphicFramePr>
        <p:xfrm>
          <a:off x="836023" y="2054787"/>
          <a:ext cx="12958350" cy="3486616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128018">
                  <a:extLst>
                    <a:ext uri="{9D8B030D-6E8A-4147-A177-3AD203B41FA5}">
                      <a16:colId xmlns:a16="http://schemas.microsoft.com/office/drawing/2014/main" val="1178115019"/>
                    </a:ext>
                  </a:extLst>
                </a:gridCol>
                <a:gridCol w="7830332">
                  <a:extLst>
                    <a:ext uri="{9D8B030D-6E8A-4147-A177-3AD203B41FA5}">
                      <a16:colId xmlns:a16="http://schemas.microsoft.com/office/drawing/2014/main" val="8490668"/>
                    </a:ext>
                  </a:extLst>
                </a:gridCol>
              </a:tblGrid>
              <a:tr h="498088">
                <a:tc>
                  <a:txBody>
                    <a:bodyPr/>
                    <a:lstStyle/>
                    <a:p>
                      <a:r>
                        <a:rPr lang="en-US" sz="2400" dirty="0" err="1"/>
                        <a:t>Vorstellung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Realität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5960344"/>
                  </a:ext>
                </a:extLst>
              </a:tr>
              <a:tr h="498088"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None/>
                      </a:pP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Einträge</a:t>
                      </a:r>
                      <a:r>
                        <a:rPr lang="en-US" sz="240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schreiben</a:t>
                      </a:r>
                      <a:endParaRPr lang="en-US" sz="2400" u="none" strike="noStrike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als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Textfelder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43638454"/>
                  </a:ext>
                </a:extLst>
              </a:tr>
              <a:tr h="4980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u="none" strike="noStrike" noProof="0" dirty="0">
                          <a:solidFill>
                            <a:srgbClr val="000000"/>
                          </a:solidFill>
                        </a:rPr>
                        <a:t>Timeline der </a:t>
                      </a: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Einträge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werden</a:t>
                      </a:r>
                      <a:r>
                        <a:rPr lang="en-US" sz="2400" dirty="0"/>
                        <a:t> dank MongoDB </a:t>
                      </a:r>
                      <a:r>
                        <a:rPr lang="en-US" sz="2400" dirty="0" err="1"/>
                        <a:t>angezeigt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7931879"/>
                  </a:ext>
                </a:extLst>
              </a:tr>
              <a:tr h="4980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u="none" strike="noStrike" noProof="0" dirty="0">
                          <a:solidFill>
                            <a:srgbClr val="000000"/>
                          </a:solidFill>
                        </a:rPr>
                        <a:t>Orte </a:t>
                      </a: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eingeben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Durch API und Leaflet </a:t>
                      </a:r>
                      <a:r>
                        <a:rPr lang="en-US" sz="2400" dirty="0" err="1"/>
                        <a:t>werden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sie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zugeordnet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387741"/>
                  </a:ext>
                </a:extLst>
              </a:tr>
              <a:tr h="4980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Packlisten</a:t>
                      </a:r>
                      <a:r>
                        <a:rPr lang="en-US" sz="240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auswählen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Drop-Down-</a:t>
                      </a:r>
                      <a:r>
                        <a:rPr lang="en-US" sz="2400" dirty="0" err="1"/>
                        <a:t>Menü</a:t>
                      </a:r>
                      <a:r>
                        <a:rPr lang="en-US" sz="2400" dirty="0"/>
                        <a:t> von </a:t>
                      </a:r>
                      <a:r>
                        <a:rPr lang="en-US" sz="2400" dirty="0" err="1"/>
                        <a:t>hinterlegter</a:t>
                      </a:r>
                      <a:r>
                        <a:rPr lang="en-US" sz="2400" dirty="0"/>
                        <a:t> Liste </a:t>
                      </a:r>
                      <a:r>
                        <a:rPr lang="en-US" sz="2400" dirty="0" err="1"/>
                        <a:t>möglich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5975836"/>
                  </a:ext>
                </a:extLst>
              </a:tr>
              <a:tr h="4980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Einfach</a:t>
                      </a:r>
                      <a:r>
                        <a:rPr lang="en-US" sz="240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Benutzername</a:t>
                      </a:r>
                      <a:r>
                        <a:rPr lang="en-US" sz="2400" u="none" strike="noStrike" noProof="0" dirty="0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hinterlegen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err="1"/>
                        <a:t>als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Textfeld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8687790"/>
                  </a:ext>
                </a:extLst>
              </a:tr>
              <a:tr h="4980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Zufallsgenerator</a:t>
                      </a:r>
                      <a:r>
                        <a:rPr lang="en-US" sz="2400" u="none" strike="noStrike" noProof="0" dirty="0">
                          <a:solidFill>
                            <a:srgbClr val="000000"/>
                          </a:solidFill>
                        </a:rPr>
                        <a:t> für </a:t>
                      </a:r>
                      <a:r>
                        <a:rPr lang="en-US" sz="2400" u="none" strike="noStrike" noProof="0" dirty="0" err="1">
                          <a:solidFill>
                            <a:srgbClr val="000000"/>
                          </a:solidFill>
                        </a:rPr>
                        <a:t>Reiseziele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Per Button &amp; </a:t>
                      </a:r>
                      <a:r>
                        <a:rPr lang="en-US" sz="2400" dirty="0" err="1"/>
                        <a:t>hinterlegter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Liste</a:t>
                      </a:r>
                      <a:r>
                        <a:rPr lang="en-US" sz="2400" dirty="0"/>
                        <a:t> </a:t>
                      </a:r>
                      <a:r>
                        <a:rPr lang="en-US" sz="2400" dirty="0" err="1"/>
                        <a:t>möglich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68077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8B98D1-3A85-5D5B-AEB3-8907570A72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993" y="0"/>
            <a:ext cx="13594380" cy="822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8620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C64E22-8933-2EC1-E048-5377382E2B03}"/>
              </a:ext>
            </a:extLst>
          </p:cNvPr>
          <p:cNvSpPr txBox="1"/>
          <p:nvPr/>
        </p:nvSpPr>
        <p:spPr>
          <a:xfrm>
            <a:off x="2434045" y="357051"/>
            <a:ext cx="1412530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 err="1"/>
              <a:t>Herausforderungen</a:t>
            </a:r>
            <a:r>
              <a:rPr lang="en-US" sz="2800" b="1" dirty="0"/>
              <a:t>, Learnings, </a:t>
            </a:r>
            <a:r>
              <a:rPr lang="en-US" sz="2800" b="1" dirty="0" err="1"/>
              <a:t>Ausblick</a:t>
            </a:r>
            <a:endParaRPr lang="en-US" sz="28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0ED7FB8-7C41-6EAD-D83F-D92D6CC12211}"/>
              </a:ext>
            </a:extLst>
          </p:cNvPr>
          <p:cNvSpPr txBox="1"/>
          <p:nvPr/>
        </p:nvSpPr>
        <p:spPr>
          <a:xfrm>
            <a:off x="365760" y="1079863"/>
            <a:ext cx="13881462" cy="65556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err="1">
                <a:ea typeface="+mn-lt"/>
                <a:cs typeface="+mn-lt"/>
              </a:rPr>
              <a:t>Herausfordungen</a:t>
            </a:r>
            <a:r>
              <a:rPr lang="en-US" sz="2400" b="1" dirty="0">
                <a:ea typeface="+mn-lt"/>
                <a:cs typeface="+mn-lt"/>
              </a:rPr>
              <a:t>:</a:t>
            </a:r>
          </a:p>
          <a:p>
            <a:pPr marL="342900" indent="-34290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Container-Build-</a:t>
            </a:r>
            <a:r>
              <a:rPr lang="en-US" sz="2400" b="1" dirty="0" err="1">
                <a:ea typeface="+mn-lt"/>
                <a:cs typeface="+mn-lt"/>
              </a:rPr>
              <a:t>Zeiten</a:t>
            </a:r>
            <a:r>
              <a:rPr lang="en-US" sz="2400" b="1" dirty="0">
                <a:ea typeface="+mn-lt"/>
                <a:cs typeface="+mn-lt"/>
              </a:rPr>
              <a:t>:</a:t>
            </a:r>
            <a:r>
              <a:rPr lang="en-US" sz="2400" dirty="0">
                <a:ea typeface="+mn-lt"/>
                <a:cs typeface="+mn-lt"/>
              </a:rPr>
              <a:t> Hoher </a:t>
            </a:r>
            <a:r>
              <a:rPr lang="en-US" sz="2400" dirty="0" err="1">
                <a:ea typeface="+mn-lt"/>
                <a:cs typeface="+mn-lt"/>
              </a:rPr>
              <a:t>Zeitaufwand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beim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initialen</a:t>
            </a:r>
            <a:r>
              <a:rPr lang="en-US" sz="2400" dirty="0">
                <a:ea typeface="+mn-lt"/>
                <a:cs typeface="+mn-lt"/>
              </a:rPr>
              <a:t> Setup </a:t>
            </a:r>
            <a:r>
              <a:rPr lang="en-US" sz="2400" dirty="0" err="1">
                <a:ea typeface="+mn-lt"/>
                <a:cs typeface="+mn-lt"/>
              </a:rPr>
              <a:t>durch</a:t>
            </a:r>
            <a:r>
              <a:rPr lang="en-US" sz="2400" dirty="0">
                <a:ea typeface="+mn-lt"/>
                <a:cs typeface="+mn-lt"/>
              </a:rPr>
              <a:t> den </a:t>
            </a:r>
            <a:r>
              <a:rPr lang="en-US" sz="2400" dirty="0" err="1">
                <a:ea typeface="+mn-lt"/>
                <a:cs typeface="+mn-lt"/>
              </a:rPr>
              <a:t>vollständigen</a:t>
            </a:r>
            <a:r>
              <a:rPr lang="en-US" sz="2400" dirty="0">
                <a:ea typeface="+mn-lt"/>
                <a:cs typeface="+mn-lt"/>
              </a:rPr>
              <a:t> Download </a:t>
            </a:r>
            <a:r>
              <a:rPr lang="en-US" sz="2400" dirty="0" err="1">
                <a:ea typeface="+mn-lt"/>
                <a:cs typeface="+mn-lt"/>
              </a:rPr>
              <a:t>aller</a:t>
            </a:r>
            <a:r>
              <a:rPr lang="en-US" sz="2400" dirty="0">
                <a:ea typeface="+mn-lt"/>
                <a:cs typeface="+mn-lt"/>
              </a:rPr>
              <a:t> Maven-</a:t>
            </a:r>
            <a:r>
              <a:rPr lang="en-US" sz="2400" dirty="0" err="1">
                <a:ea typeface="+mn-lt"/>
                <a:cs typeface="+mn-lt"/>
              </a:rPr>
              <a:t>Abhängigkeiten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>
                <a:latin typeface="Consolas"/>
                <a:ea typeface="+mn-lt"/>
                <a:cs typeface="+mn-lt"/>
              </a:rPr>
              <a:t>pom.xml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2400" b="1" dirty="0" err="1">
                <a:ea typeface="+mn-lt"/>
                <a:cs typeface="+mn-lt"/>
              </a:rPr>
              <a:t>Typen</a:t>
            </a:r>
            <a:r>
              <a:rPr lang="en-US" sz="2400" b="1" dirty="0">
                <a:ea typeface="+mn-lt"/>
                <a:cs typeface="+mn-lt"/>
              </a:rPr>
              <a:t>-Mapping: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Konflikte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zwischen</a:t>
            </a:r>
            <a:r>
              <a:rPr lang="en-US" sz="2400" dirty="0">
                <a:ea typeface="+mn-lt"/>
                <a:cs typeface="+mn-lt"/>
              </a:rPr>
              <a:t> MongoDB (</a:t>
            </a:r>
            <a:r>
              <a:rPr lang="en-US" sz="2400" dirty="0" err="1">
                <a:latin typeface="Consolas"/>
              </a:rPr>
              <a:t>ObjectId</a:t>
            </a:r>
            <a:r>
              <a:rPr lang="en-US" sz="2400" dirty="0">
                <a:ea typeface="+mn-lt"/>
                <a:cs typeface="+mn-lt"/>
              </a:rPr>
              <a:t>) und Java-</a:t>
            </a:r>
            <a:r>
              <a:rPr lang="en-US" sz="2400" dirty="0" err="1">
                <a:ea typeface="+mn-lt"/>
                <a:cs typeface="+mn-lt"/>
              </a:rPr>
              <a:t>Datenmodellen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>
                <a:latin typeface="Consolas"/>
              </a:rPr>
              <a:t>String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Frontend-Workflow:</a:t>
            </a:r>
            <a:r>
              <a:rPr lang="en-US" sz="2400" dirty="0">
                <a:ea typeface="+mn-lt"/>
                <a:cs typeface="+mn-lt"/>
              </a:rPr>
              <a:t> Caching- &amp; </a:t>
            </a:r>
            <a:r>
              <a:rPr lang="en-US" sz="2400" dirty="0" err="1">
                <a:ea typeface="+mn-lt"/>
                <a:cs typeface="+mn-lt"/>
              </a:rPr>
              <a:t>Classpath-Probleme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beim</a:t>
            </a:r>
            <a:r>
              <a:rPr lang="en-US" sz="2400" dirty="0">
                <a:ea typeface="+mn-lt"/>
                <a:cs typeface="+mn-lt"/>
              </a:rPr>
              <a:t> Live-Reloading der HTML-</a:t>
            </a:r>
            <a:r>
              <a:rPr lang="en-US" sz="2400" dirty="0" err="1">
                <a:ea typeface="+mn-lt"/>
                <a:cs typeface="+mn-lt"/>
              </a:rPr>
              <a:t>Ressourcen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endParaRPr lang="en-US" sz="2400" dirty="0">
              <a:ea typeface="+mn-lt"/>
              <a:cs typeface="+mn-lt"/>
            </a:endParaRPr>
          </a:p>
          <a:p>
            <a:r>
              <a:rPr lang="en-US" sz="2400" b="1" dirty="0" err="1"/>
              <a:t>Gelerntes</a:t>
            </a:r>
            <a:r>
              <a:rPr lang="en-US" sz="2400" b="1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2400" b="1" dirty="0" err="1">
                <a:ea typeface="+mn-lt"/>
                <a:cs typeface="+mn-lt"/>
              </a:rPr>
              <a:t>Standardisierung</a:t>
            </a:r>
            <a:r>
              <a:rPr lang="en-US" sz="2400" b="1" dirty="0">
                <a:ea typeface="+mn-lt"/>
                <a:cs typeface="+mn-lt"/>
              </a:rPr>
              <a:t>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DevContainer</a:t>
            </a:r>
            <a:r>
              <a:rPr lang="en-US" sz="2400" dirty="0">
                <a:ea typeface="+mn-lt"/>
                <a:cs typeface="+mn-lt"/>
              </a:rPr>
              <a:t> für alle </a:t>
            </a:r>
            <a:r>
              <a:rPr lang="en-US" sz="2400" dirty="0" err="1">
                <a:ea typeface="+mn-lt"/>
                <a:cs typeface="+mn-lt"/>
              </a:rPr>
              <a:t>funktionierend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aufsetzen</a:t>
            </a:r>
            <a:r>
              <a:rPr lang="en-US" sz="2400" dirty="0">
                <a:ea typeface="+mn-lt"/>
                <a:cs typeface="+mn-lt"/>
              </a:rPr>
              <a:t> und die </a:t>
            </a:r>
            <a:r>
              <a:rPr lang="en-US" sz="2400" dirty="0" err="1">
                <a:ea typeface="+mn-lt"/>
                <a:cs typeface="+mn-lt"/>
              </a:rPr>
              <a:t>nötigen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Abhängigkeiten</a:t>
            </a:r>
            <a:r>
              <a:rPr lang="en-US" sz="2400" dirty="0">
                <a:ea typeface="+mn-lt"/>
                <a:cs typeface="+mn-lt"/>
              </a:rPr>
              <a:t> in der pom.xml </a:t>
            </a:r>
            <a:r>
              <a:rPr lang="en-US" sz="2400" dirty="0" err="1">
                <a:ea typeface="+mn-lt"/>
                <a:cs typeface="+mn-lt"/>
              </a:rPr>
              <a:t>schon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korrekt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mitgeben</a:t>
            </a:r>
            <a:r>
              <a:rPr lang="en-US" sz="2400" dirty="0">
                <a:ea typeface="+mn-lt"/>
                <a:cs typeface="+mn-lt"/>
              </a:rPr>
              <a:t> (</a:t>
            </a:r>
            <a:r>
              <a:rPr lang="en-US" sz="2400" dirty="0" err="1">
                <a:ea typeface="+mn-lt"/>
                <a:cs typeface="+mn-lt"/>
              </a:rPr>
              <a:t>auch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wenn's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lange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dauerte</a:t>
            </a:r>
            <a:r>
              <a:rPr lang="en-US" sz="2400" dirty="0">
                <a:ea typeface="+mn-lt"/>
                <a:cs typeface="+mn-lt"/>
              </a:rPr>
              <a:t>)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 err="1"/>
              <a:t>Github</a:t>
            </a:r>
            <a:r>
              <a:rPr lang="en-US" sz="2400" b="1" dirty="0"/>
              <a:t> </a:t>
            </a:r>
            <a:r>
              <a:rPr lang="en-US" sz="2400" b="1" dirty="0" err="1"/>
              <a:t>nutzen</a:t>
            </a:r>
            <a:r>
              <a:rPr lang="en-US" sz="2400" b="1" dirty="0"/>
              <a:t>:</a:t>
            </a:r>
            <a:r>
              <a:rPr lang="en-US" sz="2400" dirty="0"/>
              <a:t> </a:t>
            </a:r>
            <a:r>
              <a:rPr lang="en-US" sz="2400" dirty="0" err="1"/>
              <a:t>alles</a:t>
            </a:r>
            <a:r>
              <a:rPr lang="en-US" sz="2400" dirty="0"/>
              <a:t> </a:t>
            </a:r>
            <a:r>
              <a:rPr lang="en-US" sz="2400" dirty="0" err="1"/>
              <a:t>korrekt</a:t>
            </a:r>
            <a:r>
              <a:rPr lang="en-US" sz="2400" dirty="0"/>
              <a:t> </a:t>
            </a:r>
            <a:r>
              <a:rPr lang="en-US" sz="2400" dirty="0" err="1"/>
              <a:t>pushen</a:t>
            </a:r>
            <a:r>
              <a:rPr lang="en-US" sz="2400" dirty="0"/>
              <a:t> und </a:t>
            </a:r>
            <a:r>
              <a:rPr lang="en-US" sz="2400" dirty="0" err="1"/>
              <a:t>verständliche</a:t>
            </a:r>
            <a:r>
              <a:rPr lang="en-US" sz="2400" dirty="0"/>
              <a:t> read.me nicht </a:t>
            </a:r>
            <a:r>
              <a:rPr lang="en-US" sz="2400" dirty="0" err="1"/>
              <a:t>vergessen</a:t>
            </a:r>
            <a:r>
              <a:rPr lang="en-US" sz="2400" dirty="0"/>
              <a:t> </a:t>
            </a:r>
          </a:p>
          <a:p>
            <a:pPr marL="285750" indent="-285750">
              <a:buFont typeface="Arial"/>
              <a:buChar char="•"/>
            </a:pPr>
            <a:endParaRPr lang="en-US" sz="2400" dirty="0"/>
          </a:p>
          <a:p>
            <a:r>
              <a:rPr lang="en-US" sz="2400" b="1" dirty="0" err="1"/>
              <a:t>Ausblick</a:t>
            </a:r>
            <a:r>
              <a:rPr lang="en-US" sz="2400" b="1" dirty="0"/>
              <a:t>:</a:t>
            </a:r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CI-Pipeline: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Einrichtung</a:t>
            </a:r>
            <a:r>
              <a:rPr lang="en-US" sz="2400" dirty="0">
                <a:ea typeface="+mn-lt"/>
                <a:cs typeface="+mn-lt"/>
              </a:rPr>
              <a:t> von GitHub Actions für </a:t>
            </a:r>
            <a:r>
              <a:rPr lang="en-US" sz="2400" dirty="0" err="1">
                <a:ea typeface="+mn-lt"/>
                <a:cs typeface="+mn-lt"/>
              </a:rPr>
              <a:t>automatisierte</a:t>
            </a:r>
            <a:r>
              <a:rPr lang="en-US" sz="2400" dirty="0">
                <a:ea typeface="+mn-lt"/>
                <a:cs typeface="+mn-lt"/>
              </a:rPr>
              <a:t> Tests 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 err="1">
                <a:ea typeface="+mn-lt"/>
                <a:cs typeface="+mn-lt"/>
              </a:rPr>
              <a:t>Konfigurationsmanagement</a:t>
            </a:r>
            <a:r>
              <a:rPr lang="en-US" sz="2400" b="1" dirty="0">
                <a:ea typeface="+mn-lt"/>
                <a:cs typeface="+mn-lt"/>
              </a:rPr>
              <a:t>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Trennung</a:t>
            </a:r>
            <a:r>
              <a:rPr lang="en-US" sz="2400" dirty="0">
                <a:ea typeface="+mn-lt"/>
                <a:cs typeface="+mn-lt"/>
              </a:rPr>
              <a:t> von Code und </a:t>
            </a:r>
            <a:r>
              <a:rPr lang="en-US" sz="2400" dirty="0" err="1">
                <a:ea typeface="+mn-lt"/>
                <a:cs typeface="+mn-lt"/>
              </a:rPr>
              <a:t>Konfiguration</a:t>
            </a:r>
            <a:r>
              <a:rPr lang="en-US" sz="2400" dirty="0">
                <a:ea typeface="+mn-lt"/>
                <a:cs typeface="+mn-lt"/>
              </a:rPr>
              <a:t> via </a:t>
            </a:r>
            <a:r>
              <a:rPr lang="en-US" sz="2400" dirty="0" err="1">
                <a:ea typeface="+mn-lt"/>
                <a:cs typeface="+mn-lt"/>
              </a:rPr>
              <a:t>Umgebungsvariablen</a:t>
            </a:r>
            <a:endParaRPr lang="en-US" sz="2400" dirty="0" err="1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Cloud-Migration: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Auslagerung</a:t>
            </a:r>
            <a:r>
              <a:rPr lang="en-US" sz="2400" dirty="0">
                <a:ea typeface="+mn-lt"/>
                <a:cs typeface="+mn-lt"/>
              </a:rPr>
              <a:t> der </a:t>
            </a:r>
            <a:r>
              <a:rPr lang="en-US" sz="2400" dirty="0" err="1">
                <a:ea typeface="+mn-lt"/>
                <a:cs typeface="+mn-lt"/>
              </a:rPr>
              <a:t>Datenbank</a:t>
            </a:r>
            <a:r>
              <a:rPr lang="en-US" sz="2400" dirty="0">
                <a:ea typeface="+mn-lt"/>
                <a:cs typeface="+mn-lt"/>
              </a:rPr>
              <a:t> auf MongoDB Atlas</a:t>
            </a:r>
            <a:endParaRPr lang="en-US" sz="2400" dirty="0"/>
          </a:p>
          <a:p>
            <a:pPr marL="285750" indent="-285750">
              <a:buFont typeface="Arial"/>
              <a:buChar char="•"/>
            </a:pPr>
            <a:r>
              <a:rPr lang="en-US" sz="2400" b="1" dirty="0">
                <a:ea typeface="+mn-lt"/>
                <a:cs typeface="+mn-lt"/>
              </a:rPr>
              <a:t>Deployment: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sz="2400" dirty="0" err="1">
                <a:ea typeface="+mn-lt"/>
                <a:cs typeface="+mn-lt"/>
              </a:rPr>
              <a:t>Vorbereitung</a:t>
            </a:r>
            <a:r>
              <a:rPr lang="en-US" sz="2400" dirty="0">
                <a:ea typeface="+mn-lt"/>
                <a:cs typeface="+mn-lt"/>
              </a:rPr>
              <a:t> für das </a:t>
            </a:r>
            <a:r>
              <a:rPr lang="en-US" sz="2400" dirty="0" err="1">
                <a:ea typeface="+mn-lt"/>
                <a:cs typeface="+mn-lt"/>
              </a:rPr>
              <a:t>produktive</a:t>
            </a:r>
            <a:r>
              <a:rPr lang="en-US" sz="2400" dirty="0">
                <a:ea typeface="+mn-lt"/>
                <a:cs typeface="+mn-lt"/>
              </a:rPr>
              <a:t> Hosting der </a:t>
            </a:r>
            <a:r>
              <a:rPr lang="en-US" sz="2400" dirty="0" err="1">
                <a:ea typeface="+mn-lt"/>
                <a:cs typeface="+mn-lt"/>
              </a:rPr>
              <a:t>Anwendung</a:t>
            </a:r>
            <a:endParaRPr lang="en-US" sz="2400" dirty="0" err="1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521C52-B453-977B-B025-C479BBD8B6B1}"/>
              </a:ext>
            </a:extLst>
          </p:cNvPr>
          <p:cNvSpPr txBox="1"/>
          <p:nvPr/>
        </p:nvSpPr>
        <p:spPr>
          <a:xfrm>
            <a:off x="12653511" y="7694358"/>
            <a:ext cx="1981376" cy="54078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257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398C26-5A10-797E-E57E-FC2E9519F5B1}"/>
              </a:ext>
            </a:extLst>
          </p:cNvPr>
          <p:cNvSpPr txBox="1"/>
          <p:nvPr/>
        </p:nvSpPr>
        <p:spPr>
          <a:xfrm>
            <a:off x="627017" y="661851"/>
            <a:ext cx="13149942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600" b="1" dirty="0" err="1"/>
              <a:t>Fragen</a:t>
            </a:r>
            <a:r>
              <a:rPr lang="en-US" sz="2600" b="1" dirty="0"/>
              <a:t> von </a:t>
            </a:r>
            <a:r>
              <a:rPr lang="en-US" sz="2600" b="1" dirty="0" err="1"/>
              <a:t>uns</a:t>
            </a:r>
            <a:r>
              <a:rPr lang="en-US" sz="2600" b="1" dirty="0"/>
              <a:t> :)</a:t>
            </a:r>
          </a:p>
          <a:p>
            <a:pPr marL="228600" indent="-228600">
              <a:buFont typeface=""/>
              <a:buChar char="•"/>
            </a:pPr>
            <a:endParaRPr lang="en-US" sz="2600" b="1" dirty="0"/>
          </a:p>
          <a:p>
            <a:pPr marL="228600" indent="-228600">
              <a:buFont typeface=""/>
              <a:buChar char="•"/>
            </a:pPr>
            <a:r>
              <a:rPr lang="en-US" sz="2600" i="1" dirty="0" err="1"/>
              <a:t>Sollen</a:t>
            </a:r>
            <a:r>
              <a:rPr lang="en-US" sz="2600" i="1" dirty="0"/>
              <a:t> </a:t>
            </a:r>
            <a:r>
              <a:rPr lang="en-US" sz="2600" i="1" dirty="0" err="1"/>
              <a:t>wir</a:t>
            </a:r>
            <a:r>
              <a:rPr lang="en-US" sz="2600" i="1" dirty="0"/>
              <a:t> </a:t>
            </a:r>
            <a:r>
              <a:rPr lang="en-US" sz="2600" i="1" dirty="0" err="1"/>
              <a:t>noch</a:t>
            </a:r>
            <a:r>
              <a:rPr lang="en-US" sz="2600" i="1" dirty="0"/>
              <a:t> </a:t>
            </a:r>
            <a:r>
              <a:rPr lang="en-US" sz="2600" i="1" dirty="0" err="1"/>
              <a:t>mehr</a:t>
            </a:r>
            <a:r>
              <a:rPr lang="en-US" sz="2600" i="1" dirty="0"/>
              <a:t> </a:t>
            </a:r>
            <a:r>
              <a:rPr lang="en-US" sz="2600" i="1" dirty="0" err="1"/>
              <a:t>Anwendungs</a:t>
            </a:r>
            <a:r>
              <a:rPr lang="en-US" sz="2600" i="1" dirty="0"/>
              <a:t>-Features (</a:t>
            </a:r>
            <a:r>
              <a:rPr lang="en-US" sz="2600" i="1" dirty="0" err="1"/>
              <a:t>Logiken</a:t>
            </a:r>
            <a:r>
              <a:rPr lang="en-US" sz="2600" i="1" dirty="0"/>
              <a:t>) </a:t>
            </a:r>
            <a:r>
              <a:rPr lang="en-US" sz="2600" i="1" dirty="0" err="1"/>
              <a:t>einbauen</a:t>
            </a:r>
            <a:r>
              <a:rPr lang="en-US" sz="2600" i="1" dirty="0"/>
              <a:t>, </a:t>
            </a:r>
            <a:r>
              <a:rPr lang="en-US" sz="2600" i="1" dirty="0" err="1"/>
              <a:t>oder</a:t>
            </a:r>
            <a:r>
              <a:rPr lang="en-US" sz="2600" i="1" dirty="0"/>
              <a:t> </a:t>
            </a:r>
            <a:r>
              <a:rPr lang="en-US" sz="2600" i="1" dirty="0" err="1"/>
              <a:t>reicht</a:t>
            </a:r>
            <a:r>
              <a:rPr lang="en-US" sz="2600" i="1" dirty="0"/>
              <a:t> der </a:t>
            </a:r>
            <a:r>
              <a:rPr lang="en-US" sz="2600" i="1" dirty="0" err="1"/>
              <a:t>aktuelle</a:t>
            </a:r>
            <a:r>
              <a:rPr lang="en-US" sz="2600" i="1" dirty="0"/>
              <a:t> Stand, um den </a:t>
            </a:r>
            <a:r>
              <a:rPr lang="en-US" sz="2600" i="1" dirty="0" err="1"/>
              <a:t>Fokus</a:t>
            </a:r>
            <a:r>
              <a:rPr lang="en-US" sz="2600" i="1" dirty="0"/>
              <a:t> </a:t>
            </a:r>
            <a:r>
              <a:rPr lang="en-US" sz="2600" i="1" dirty="0" err="1"/>
              <a:t>jetzt</a:t>
            </a:r>
            <a:r>
              <a:rPr lang="en-US" sz="2600" i="1" dirty="0"/>
              <a:t> </a:t>
            </a:r>
            <a:r>
              <a:rPr lang="en-US" sz="2600" i="1" dirty="0" err="1"/>
              <a:t>zu</a:t>
            </a:r>
            <a:r>
              <a:rPr lang="en-US" sz="2600" i="1" dirty="0"/>
              <a:t> 100 % auf die DevOps-Pipeline (CI/CD, Deployment) </a:t>
            </a:r>
            <a:r>
              <a:rPr lang="en-US" sz="2600" i="1" dirty="0" err="1"/>
              <a:t>zu</a:t>
            </a:r>
            <a:r>
              <a:rPr lang="en-US" sz="2600" i="1" dirty="0"/>
              <a:t> </a:t>
            </a:r>
            <a:r>
              <a:rPr lang="en-US" sz="2600" i="1" dirty="0" err="1"/>
              <a:t>legen</a:t>
            </a:r>
            <a:r>
              <a:rPr lang="en-US" sz="2600" i="1" dirty="0"/>
              <a:t>?</a:t>
            </a:r>
            <a:endParaRPr lang="en-US" sz="2600" dirty="0"/>
          </a:p>
          <a:p>
            <a:pPr marL="228600" indent="-228600">
              <a:buFont typeface=""/>
              <a:buChar char="•"/>
            </a:pPr>
            <a:endParaRPr lang="en-US" sz="2600" i="1" dirty="0"/>
          </a:p>
          <a:p>
            <a:pPr marL="228600" indent="-228600">
              <a:buFont typeface=""/>
              <a:buChar char="•"/>
            </a:pPr>
            <a:endParaRPr lang="en-US" sz="2600" i="1" dirty="0"/>
          </a:p>
          <a:p>
            <a:pPr marL="228600" indent="-228600">
              <a:buFont typeface=""/>
              <a:buChar char="•"/>
            </a:pPr>
            <a:endParaRPr lang="en-US" sz="2600" i="1" dirty="0"/>
          </a:p>
          <a:p>
            <a:pPr marL="228600" indent="-228600">
              <a:buFont typeface=""/>
              <a:buChar char="•"/>
            </a:pPr>
            <a:r>
              <a:rPr lang="en-US" sz="2600" i="1" dirty="0"/>
              <a:t>Wie </a:t>
            </a:r>
            <a:r>
              <a:rPr lang="en-US" sz="2600" i="1" dirty="0" err="1"/>
              <a:t>tief</a:t>
            </a:r>
            <a:r>
              <a:rPr lang="en-US" sz="2600" i="1" dirty="0"/>
              <a:t> </a:t>
            </a:r>
            <a:r>
              <a:rPr lang="en-US" sz="2600" i="1" dirty="0" err="1"/>
              <a:t>sollen</a:t>
            </a:r>
            <a:r>
              <a:rPr lang="en-US" sz="2600" i="1" dirty="0"/>
              <a:t> </a:t>
            </a:r>
            <a:r>
              <a:rPr lang="en-US" sz="2600" i="1" dirty="0" err="1"/>
              <a:t>wir</a:t>
            </a:r>
            <a:r>
              <a:rPr lang="en-US" sz="2600" i="1" dirty="0"/>
              <a:t> </a:t>
            </a:r>
            <a:r>
              <a:rPr lang="en-US" sz="2600" i="1" dirty="0" err="1"/>
              <a:t>beim</a:t>
            </a:r>
            <a:r>
              <a:rPr lang="en-US" sz="2600" i="1" dirty="0"/>
              <a:t> </a:t>
            </a:r>
            <a:r>
              <a:rPr lang="en-US" sz="2600" i="1" dirty="0" err="1"/>
              <a:t>automatisierten</a:t>
            </a:r>
            <a:r>
              <a:rPr lang="en-US" sz="2600" i="1" dirty="0"/>
              <a:t> Testing </a:t>
            </a:r>
            <a:r>
              <a:rPr lang="en-US" sz="2600" i="1" dirty="0" err="1"/>
              <a:t>gehen</a:t>
            </a:r>
            <a:r>
              <a:rPr lang="en-US" sz="2600" i="1" dirty="0"/>
              <a:t>? Reichen simple Unit-Tests für </a:t>
            </a:r>
            <a:r>
              <a:rPr lang="en-US" sz="2600" i="1" dirty="0" err="1"/>
              <a:t>unsere</a:t>
            </a:r>
            <a:r>
              <a:rPr lang="en-US" sz="2600" i="1" dirty="0"/>
              <a:t> API-Services, </a:t>
            </a:r>
            <a:r>
              <a:rPr lang="en-US" sz="2600" i="1" dirty="0" err="1"/>
              <a:t>oder</a:t>
            </a:r>
            <a:r>
              <a:rPr lang="en-US" sz="2600" i="1" dirty="0"/>
              <a:t> </a:t>
            </a:r>
            <a:r>
              <a:rPr lang="en-US" sz="2600" i="1" dirty="0" err="1"/>
              <a:t>erwarten</a:t>
            </a:r>
            <a:r>
              <a:rPr lang="en-US" sz="2600" i="1" dirty="0"/>
              <a:t> Sie </a:t>
            </a:r>
            <a:r>
              <a:rPr lang="en-US" sz="2600" i="1" dirty="0" err="1"/>
              <a:t>komplexe</a:t>
            </a:r>
            <a:r>
              <a:rPr lang="en-US" sz="2600" i="1" dirty="0"/>
              <a:t> Integration-Tests (</a:t>
            </a:r>
            <a:r>
              <a:rPr lang="en-US" sz="2600" i="1" dirty="0" err="1"/>
              <a:t>z.B.</a:t>
            </a:r>
            <a:r>
              <a:rPr lang="en-US" sz="2600" i="1" dirty="0"/>
              <a:t> </a:t>
            </a:r>
            <a:r>
              <a:rPr lang="en-US" sz="2600" i="1" dirty="0" err="1"/>
              <a:t>mit</a:t>
            </a:r>
            <a:r>
              <a:rPr lang="en-US" sz="2600" i="1" dirty="0"/>
              <a:t> </a:t>
            </a:r>
            <a:r>
              <a:rPr lang="en-US" sz="2600" i="1" dirty="0" err="1"/>
              <a:t>Testcontainers</a:t>
            </a:r>
            <a:r>
              <a:rPr lang="en-US" sz="2600" i="1" dirty="0"/>
              <a:t> für die </a:t>
            </a:r>
            <a:r>
              <a:rPr lang="en-US" sz="2600" i="1" dirty="0" err="1"/>
              <a:t>Datenbank</a:t>
            </a:r>
            <a:r>
              <a:rPr lang="en-US" sz="2600" i="1" dirty="0"/>
              <a:t>)?</a:t>
            </a:r>
            <a:endParaRPr lang="en-US" sz="2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DFC91F-712C-DD72-257D-0E0630060A70}"/>
              </a:ext>
            </a:extLst>
          </p:cNvPr>
          <p:cNvSpPr txBox="1"/>
          <p:nvPr/>
        </p:nvSpPr>
        <p:spPr>
          <a:xfrm>
            <a:off x="12653511" y="7694358"/>
            <a:ext cx="1981376" cy="540782"/>
          </a:xfrm>
          <a:prstGeom prst="rect">
            <a:avLst/>
          </a:prstGeom>
          <a:solidFill>
            <a:schemeClr val="bg1"/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9753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F496CB"/>
      </a:accent1>
      <a:accent2>
        <a:srgbClr val="BC356F"/>
      </a:accent2>
      <a:accent3>
        <a:srgbClr val="E65331"/>
      </a:accent3>
      <a:accent4>
        <a:srgbClr val="F27E19"/>
      </a:accent4>
      <a:accent5>
        <a:srgbClr val="F2AC19"/>
      </a:accent5>
      <a:accent6>
        <a:srgbClr val="BC80E0"/>
      </a:accent6>
      <a:hlink>
        <a:srgbClr val="EF5285"/>
      </a:hlink>
      <a:folHlink>
        <a:srgbClr val="F77F9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6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177</cp:revision>
  <dcterms:created xsi:type="dcterms:W3CDTF">2026-04-16T10:54:22Z</dcterms:created>
  <dcterms:modified xsi:type="dcterms:W3CDTF">2026-05-21T14:49:34Z</dcterms:modified>
</cp:coreProperties>
</file>